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9" r:id="rId2"/>
    <p:sldId id="260" r:id="rId3"/>
    <p:sldId id="261" r:id="rId4"/>
    <p:sldId id="272" r:id="rId5"/>
    <p:sldId id="262" r:id="rId6"/>
    <p:sldId id="276" r:id="rId7"/>
    <p:sldId id="277" r:id="rId8"/>
    <p:sldId id="278" r:id="rId9"/>
    <p:sldId id="279" r:id="rId10"/>
    <p:sldId id="280" r:id="rId11"/>
    <p:sldId id="281" r:id="rId12"/>
    <p:sldId id="264" r:id="rId13"/>
    <p:sldId id="266" r:id="rId14"/>
    <p:sldId id="282" r:id="rId15"/>
    <p:sldId id="267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2406" autoAdjust="0"/>
  </p:normalViewPr>
  <p:slideViewPr>
    <p:cSldViewPr snapToGrid="0">
      <p:cViewPr varScale="1">
        <p:scale>
          <a:sx n="57" d="100"/>
          <a:sy n="57" d="100"/>
        </p:scale>
        <p:origin x="10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34187-D1C5-45A9-B784-1381C9B6EE9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4EAC06-4768-46B2-91B9-F2AFB915DF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455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Although a full store view could be generated, I found controlling the quality of the generated images to be imprecise and inconsistent enough to be practical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4EAC06-4768-46B2-91B9-F2AFB915DF2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391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4EAC06-4768-46B2-91B9-F2AFB915DF2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C4843-8494-9253-4F92-28A7FD1C0F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0FD21E-3FB9-4C05-DA2D-C0655EEEF6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F31344-CC23-6622-F37A-33F4E449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4DF15-B0E4-AD47-36F5-932C87032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DED81-A5BE-FA96-A6B4-F104983F0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67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EFAE9-7B46-0DAF-5001-2E77A7FF6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081B9-37A3-CEB9-70ED-575B3BC8F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1328E-AB29-6C0A-00EB-0C27A3372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4AD5E-EF82-07F8-8CF7-60F74427D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306383-8328-FF33-E94A-16EBFA564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293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633C2-9C2C-D610-79BF-62D9D4694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04989-C98E-ADE5-AE27-36FC7D52B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251E1-2FF2-770E-0950-B9B87F05B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A1506-70B0-17E4-896F-5F26C84A1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C1CFA-6728-E890-BB2F-38A06467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089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D719F-204D-6DAD-3C0B-96056125F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2BDB4-AB31-B6FB-49BB-D196FAAB33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BF0F3-A8A1-2C81-AC77-8479B68F33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471FE9-5B85-9F45-F458-148E66232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E9FC1C-8655-0BB5-396D-88FE24D41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5F7CCE-5900-25E7-7525-0D41BB0AC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8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0DA04-D354-3AB8-F9AD-374B7C73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F6039-9DC2-5749-1F2A-9CDDD62E3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607DFF-8989-E371-37D5-DAA43C0558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0AAA70-8C72-AD80-F145-0A4483223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920A33-40CA-3052-3B50-6055A5699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92EE24-DDB2-27AE-32A0-916761E93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90F775-B192-62DA-12BE-A176BAB8A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FF31BE-9DFB-3B25-E266-07860229C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9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34C88-9675-A9D3-EDB7-0227CD194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528EB1-10AE-FDBA-4021-9CEC2D335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AB7927-2620-938D-2FBC-8A7198655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91C2F-A47D-E2FE-F206-8DEE377A7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75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2002A6-4166-7292-5DB6-67C5A9EFC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5849B5-2AC6-BD65-F030-27A981A55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10C8F-36C5-25DA-0653-6FFF929D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692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7C78F-125A-027A-EE51-90439666B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3D472-0783-DDDE-F356-64152A17F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B1D8C1-AECF-81FD-36EC-07C17E24B9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035B5-A9B0-A5A6-1FF7-CBD3BAA2A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691D76-A0FF-C0EB-97CA-5D792DC12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9E413D-7E3B-D4AF-7326-6E636681B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291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31ABD-74F7-6F06-8076-8BE843FF1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42840F-F03F-3747-1FF0-6C47A52CFB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0DC1E5-1EF1-B9F6-E6C4-40E487C17D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1DC6E1-9746-4D5B-94A7-9C034ED0A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22DB6-9992-F8CC-F1AB-5EFBCD854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D77EC-3A8E-4AF5-AA4D-D5BE43DBE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466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07FF-39AB-63C4-CB65-BDA2BD7D4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570C15-E773-1F02-AA3E-275C26A55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490F6-B7CF-4A4A-27EE-30FF834C6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7F51A-464F-4989-38B6-97C25E7C5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5D583-11D8-A15C-EEE6-51D2E4771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620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73CC28-B598-3B83-1811-A324F99404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A8E1F0-D7C3-6CCF-4ADD-CF69A4FDA1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D84826-82AF-D308-815F-DA3820756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C6414-5ACD-E6E1-7DD3-7EEE2DED4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301041-B414-5492-1C4B-19750BA9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558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E262F2-C093-4100-F1DF-5CEAAF638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2B9F4-3FC5-52D6-D419-6224E2DD65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5228A-70E0-6969-2289-06D610927C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19198-E8FB-4B3F-85BE-50BCEDA61C17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A1DE53-49DC-9BE9-6C69-ADE9353887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1A350-4ADD-3EEB-E59C-05487FAE03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D2513-5EEA-4A71-A363-1C0798E3B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408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oelvinas/COMP-SCI_5542/tree/3272ebcc0ab6f1332e682f3a85e9787d82718b1b/Quiz%20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youtu.be/e_uipJM81MU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004BDEA-0B78-82A7-297D-8F885C283D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Planogram Updater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71C0F4B4-A723-09E8-EC4B-FDF8EBE4D0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Quiz 1 Challenge</a:t>
            </a:r>
          </a:p>
          <a:p>
            <a:r>
              <a:rPr lang="en-US" dirty="0"/>
              <a:t>Joel Vinas</a:t>
            </a:r>
          </a:p>
        </p:txBody>
      </p:sp>
    </p:spTree>
    <p:extLst>
      <p:ext uri="{BB962C8B-B14F-4D97-AF65-F5344CB8AC3E}">
        <p14:creationId xmlns:p14="http://schemas.microsoft.com/office/powerpoint/2010/main" val="182603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6D0DC-724C-6A09-4C88-8C899CA36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11DA0-F045-8BC5-7AAC-716FB3B18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Retailers like CVS and Walgreens use planograms to explain design displays to their merchandising staff.</a:t>
            </a:r>
          </a:p>
          <a:p>
            <a:endParaRPr lang="en-US" dirty="0"/>
          </a:p>
          <a:p>
            <a:r>
              <a:rPr lang="en-US" dirty="0"/>
              <a:t>Static planograms directed by HQ are unable to adapt to local inventory shortages.</a:t>
            </a:r>
          </a:p>
          <a:p>
            <a:endParaRPr lang="en-US" dirty="0"/>
          </a:p>
          <a:p>
            <a:r>
              <a:rPr lang="en-US" dirty="0"/>
              <a:t>Goal: Build a data-driven system to generate realistic pharmacy shelf layouts based on SKU metadata.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0693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EFC44-C606-795F-1391-CF6C6A471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162E3-39DC-2283-3E67-D7CB4C5E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Primary Data:</a:t>
            </a:r>
            <a:r>
              <a:rPr lang="en-US" dirty="0"/>
              <a:t> We generated a custom 'pharmacy_stock_items.csv’</a:t>
            </a:r>
          </a:p>
          <a:p>
            <a:pPr lvl="1"/>
            <a:r>
              <a:rPr lang="en-US" dirty="0"/>
              <a:t>6-digit SKU</a:t>
            </a:r>
          </a:p>
          <a:p>
            <a:pPr lvl="1"/>
            <a:r>
              <a:rPr lang="en-US" dirty="0"/>
              <a:t>Product Name</a:t>
            </a:r>
          </a:p>
          <a:p>
            <a:pPr lvl="1"/>
            <a:r>
              <a:rPr lang="en-US" dirty="0"/>
              <a:t>Cost</a:t>
            </a:r>
          </a:p>
          <a:p>
            <a:pPr lvl="1"/>
            <a:r>
              <a:rPr lang="en-US" dirty="0"/>
              <a:t>Price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Visual dimensions (height, width)</a:t>
            </a:r>
          </a:p>
          <a:p>
            <a:pPr lvl="1"/>
            <a:r>
              <a:rPr lang="en-US" dirty="0"/>
              <a:t>Velocity (high-sales items)</a:t>
            </a:r>
          </a:p>
          <a:p>
            <a:r>
              <a:rPr lang="en-US" b="1" dirty="0"/>
              <a:t>Anchor Template:</a:t>
            </a:r>
            <a:r>
              <a:rPr lang="en-US" dirty="0"/>
              <a:t> Generated by Google Gemini, this was a 7-shelf backdrop with preset </a:t>
            </a:r>
            <a:r>
              <a:rPr lang="en-US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shelf_bounds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to manage precise placement</a:t>
            </a:r>
          </a:p>
          <a:p>
            <a:r>
              <a:rPr lang="en-US" b="1" dirty="0"/>
              <a:t>SKU Imagery:</a:t>
            </a:r>
            <a:r>
              <a:rPr lang="en-US" dirty="0"/>
              <a:t> Stable Diffusion generates images for each SKU based on the Product Name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122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905B2-BE6F-212F-9A4B-3EB9E8168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59A2E-3A57-70D5-44EA-77FAA4BBD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14E24-7E80-DC54-7DF8-4977BC1D2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Environment Engine:</a:t>
            </a:r>
            <a:r>
              <a:rPr lang="en-US" dirty="0"/>
              <a:t> Stable Diffusion generates a realistic, empty background from a template.</a:t>
            </a:r>
          </a:p>
          <a:p>
            <a:endParaRPr lang="en-US" b="1" dirty="0"/>
          </a:p>
          <a:p>
            <a:r>
              <a:rPr lang="en-US" b="1" dirty="0"/>
              <a:t>Data Orchestrator:</a:t>
            </a:r>
            <a:r>
              <a:rPr lang="en-US" dirty="0"/>
              <a:t> Python logic reads CSV metadata to determine SKU placement coordinates.</a:t>
            </a:r>
          </a:p>
          <a:p>
            <a:endParaRPr lang="en-US" b="1" dirty="0"/>
          </a:p>
          <a:p>
            <a:r>
              <a:rPr lang="en-US" b="1" dirty="0"/>
              <a:t>SVG Framework:</a:t>
            </a:r>
            <a:r>
              <a:rPr lang="en-US" dirty="0"/>
              <a:t> Generates an SVG file using &lt;image&gt; tags to layer SKU assets onto the SD background.</a:t>
            </a:r>
          </a:p>
          <a:p>
            <a:endParaRPr lang="en-US" b="1" dirty="0"/>
          </a:p>
          <a:p>
            <a:r>
              <a:rPr lang="en-US" b="1" dirty="0"/>
              <a:t>Deterministic Control:</a:t>
            </a:r>
            <a:r>
              <a:rPr lang="en-US" dirty="0"/>
              <a:t> Prevents AI 'hallucinations' by using vector coordinates for merchandise.</a:t>
            </a:r>
          </a:p>
        </p:txBody>
      </p:sp>
    </p:spTree>
    <p:extLst>
      <p:ext uri="{BB962C8B-B14F-4D97-AF65-F5344CB8AC3E}">
        <p14:creationId xmlns:p14="http://schemas.microsoft.com/office/powerpoint/2010/main" val="3831088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32399-1AA8-C5CD-FB53-10DC4DDCA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Stable Diffusion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35793-8DE6-B228-AE8F-EC3D5F9F9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Framework:</a:t>
            </a:r>
            <a:r>
              <a:rPr lang="en-US" dirty="0"/>
              <a:t> Hugging Face Diffusers (Stable Diffusion v1.5)</a:t>
            </a:r>
          </a:p>
          <a:p>
            <a:endParaRPr lang="en-US" dirty="0"/>
          </a:p>
          <a:p>
            <a:r>
              <a:rPr lang="en-US" b="1" dirty="0"/>
              <a:t>Model:</a:t>
            </a:r>
            <a:r>
              <a:rPr lang="en-US" dirty="0"/>
              <a:t> '</a:t>
            </a:r>
            <a:r>
              <a:rPr lang="en-US" dirty="0" err="1"/>
              <a:t>runwayml</a:t>
            </a:r>
            <a:r>
              <a:rPr lang="en-US" dirty="0"/>
              <a:t>/stable-diffusion-inpainting' for background enhancement</a:t>
            </a:r>
          </a:p>
          <a:p>
            <a:endParaRPr lang="en-US" dirty="0"/>
          </a:p>
          <a:p>
            <a:r>
              <a:rPr lang="en-US" b="1" dirty="0"/>
              <a:t>Scheduler:</a:t>
            </a:r>
            <a:r>
              <a:rPr lang="en-US" dirty="0"/>
              <a:t> </a:t>
            </a:r>
            <a:r>
              <a:rPr lang="en-US" dirty="0" err="1"/>
              <a:t>UniPCMultistepScheduler</a:t>
            </a:r>
            <a:r>
              <a:rPr lang="en-US" dirty="0"/>
              <a:t> for optimized 30-step inference</a:t>
            </a:r>
          </a:p>
          <a:p>
            <a:endParaRPr lang="en-US" dirty="0"/>
          </a:p>
          <a:p>
            <a:r>
              <a:rPr lang="en-US" b="1" dirty="0"/>
              <a:t>Hardware:</a:t>
            </a:r>
            <a:r>
              <a:rPr lang="en-US" dirty="0"/>
              <a:t> CUDA-enabled GPU for half-precision (float16) processing</a:t>
            </a:r>
          </a:p>
          <a:p>
            <a:pPr lvl="1"/>
            <a:r>
              <a:rPr lang="en-US" i="1" dirty="0"/>
              <a:t>Although GPU was enabled, most work was done via CPU due to hardware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44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DEA25B-BEDC-720E-E5B6-BD3DE5C7F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Design &amp;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A734C-02FF-F394-2DF2-B68357671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Initial Prompt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DB504A-63FE-EBEA-D48E-D7CE1C8206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Revised Prompt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01FADF-438D-5494-12CD-CE22461C91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1405" y="4144303"/>
            <a:ext cx="2348572" cy="2348572"/>
          </a:xfrm>
          <a:prstGeom prst="rect">
            <a:avLst/>
          </a:prstGeom>
        </p:spPr>
      </p:pic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1C293276-19A0-A6E6-7AED-A2F058C2A0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51" y="2405164"/>
            <a:ext cx="2350008" cy="23500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3F7814E-09B6-AB5C-EEC3-4578B9EF06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2741" y="4118801"/>
            <a:ext cx="2350008" cy="23500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FE6A3D-7A1F-48FC-E7F3-6B2E6ED07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786" y="2724436"/>
            <a:ext cx="2350008" cy="23500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A22CD2B-12FC-6B3F-8F34-51215A6514BA}"/>
              </a:ext>
            </a:extLst>
          </p:cNvPr>
          <p:cNvSpPr txBox="1"/>
          <p:nvPr/>
        </p:nvSpPr>
        <p:spPr>
          <a:xfrm>
            <a:off x="8763794" y="2724436"/>
            <a:ext cx="31332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Clearer shelves</a:t>
            </a:r>
          </a:p>
          <a:p>
            <a:r>
              <a:rPr lang="en-US" dirty="0"/>
              <a:t>More Consistent Branding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9D5646-2920-3B85-9393-E4B29D1B9CEC}"/>
              </a:ext>
            </a:extLst>
          </p:cNvPr>
          <p:cNvSpPr txBox="1"/>
          <p:nvPr/>
        </p:nvSpPr>
        <p:spPr>
          <a:xfrm>
            <a:off x="3569259" y="2505075"/>
            <a:ext cx="2015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/>
              <a:t>Inconsistent Store Brand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527677-1C5B-0654-6C0B-28DFB5144D19}"/>
              </a:ext>
            </a:extLst>
          </p:cNvPr>
          <p:cNvSpPr txBox="1"/>
          <p:nvPr/>
        </p:nvSpPr>
        <p:spPr>
          <a:xfrm>
            <a:off x="671195" y="5318589"/>
            <a:ext cx="2015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/>
              <a:t>Weak control of stock</a:t>
            </a:r>
          </a:p>
        </p:txBody>
      </p:sp>
    </p:spTree>
    <p:extLst>
      <p:ext uri="{BB962C8B-B14F-4D97-AF65-F5344CB8AC3E}">
        <p14:creationId xmlns:p14="http://schemas.microsoft.com/office/powerpoint/2010/main" val="3274325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6CCB5274-8623-97C1-3FD1-876220DF1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Design &amp; Results (Round #3)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F31DECA5-2C62-91F4-521C-5F86611EC6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Re-running resulted in an entirely new store layout</a:t>
            </a:r>
          </a:p>
          <a:p>
            <a:r>
              <a:rPr lang="en-US" dirty="0"/>
              <a:t>This inconsistency meant a complete lack of control – driven by Stable Diffusion</a:t>
            </a:r>
          </a:p>
          <a:p>
            <a:endParaRPr lang="en-US" dirty="0"/>
          </a:p>
          <a:p>
            <a:r>
              <a:rPr lang="en-US" dirty="0"/>
              <a:t>I attempted to stabilize this by using the existing layout as an anchored template</a:t>
            </a:r>
          </a:p>
        </p:txBody>
      </p:sp>
      <p:pic>
        <p:nvPicPr>
          <p:cNvPr id="21" name="Content Placeholder 7">
            <a:extLst>
              <a:ext uri="{FF2B5EF4-FFF2-40B4-BE49-F238E27FC236}">
                <a16:creationId xmlns:a16="http://schemas.microsoft.com/office/drawing/2014/main" id="{DCD526C3-8A7C-0BB5-860E-4F0DB98EBF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0866" y="3941865"/>
            <a:ext cx="2743200" cy="2743200"/>
          </a:xfrm>
          <a:prstGeom prst="rect">
            <a:avLst/>
          </a:prstGeom>
        </p:spPr>
      </p:pic>
      <p:pic>
        <p:nvPicPr>
          <p:cNvPr id="22" name="Content Placeholder 9">
            <a:extLst>
              <a:ext uri="{FF2B5EF4-FFF2-40B4-BE49-F238E27FC236}">
                <a16:creationId xmlns:a16="http://schemas.microsoft.com/office/drawing/2014/main" id="{49259758-CDEF-B6F6-5006-EC423139AA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2556" y="3941865"/>
            <a:ext cx="2743200" cy="27432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35488D9-F4BB-73B1-06A2-1005AB6D3A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711" y="1978742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388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E0B0F-1F04-239A-BEA6-EF13F923B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Design &amp; Results (Round #4)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C949B7E-F5A6-2571-42E1-DB874D95DE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 defined a fixed wall with 7-shelves at 58” in height</a:t>
            </a:r>
          </a:p>
          <a:p>
            <a:endParaRPr lang="en-US" dirty="0"/>
          </a:p>
          <a:p>
            <a:r>
              <a:rPr lang="en-US" dirty="0"/>
              <a:t>I then had Stable Diffusion fill the shelves</a:t>
            </a:r>
          </a:p>
          <a:p>
            <a:endParaRPr lang="en-US" dirty="0"/>
          </a:p>
          <a:p>
            <a:r>
              <a:rPr lang="en-US" dirty="0"/>
              <a:t>The result was exceptional – but had merchandise stacked to the ceiling</a:t>
            </a:r>
          </a:p>
        </p:txBody>
      </p:sp>
      <p:pic>
        <p:nvPicPr>
          <p:cNvPr id="15" name="Content Placeholder 5">
            <a:extLst>
              <a:ext uri="{FF2B5EF4-FFF2-40B4-BE49-F238E27FC236}">
                <a16:creationId xmlns:a16="http://schemas.microsoft.com/office/drawing/2014/main" id="{5F53DB1B-ED27-0828-B29A-986FC08916F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1873" y="3969057"/>
            <a:ext cx="2743200" cy="27432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7C8CAB1-A619-E322-9BE2-F1F4EA60DF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525" y="3969057"/>
            <a:ext cx="2743200" cy="2743200"/>
          </a:xfrm>
          <a:prstGeom prst="rect">
            <a:avLst/>
          </a:prstGeom>
        </p:spPr>
      </p:pic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4C85C5C4-996A-E114-BC48-1CAAC62A8E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970" y="1517343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69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DD5FB-7E72-3455-400B-726BE2AF7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Design &amp; Results (Round #5)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AEEBCC7-1FBD-8424-96CE-030E7CF88EB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944" y="3989439"/>
            <a:ext cx="2743200" cy="2743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AA399D-A757-B9D8-6FCE-DD81E807FA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1651" y="3989439"/>
            <a:ext cx="2743200" cy="2743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22F684F-743F-FAD1-8B5F-852E77204C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544" y="1468464"/>
            <a:ext cx="2743200" cy="2743200"/>
          </a:xfrm>
          <a:prstGeom prst="rect">
            <a:avLst/>
          </a:prstGeom>
        </p:spPr>
      </p:pic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0557FA31-F0EF-A9D9-AC1E-CD033E051B9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 defined a blank template (using Google Gemini)</a:t>
            </a:r>
          </a:p>
          <a:p>
            <a:r>
              <a:rPr lang="en-US" dirty="0"/>
              <a:t>This template was then modified to an intermediate template where all but one shelf was changed</a:t>
            </a:r>
          </a:p>
          <a:p>
            <a:r>
              <a:rPr lang="en-US" dirty="0"/>
              <a:t>The intermediate template was updated twice: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Base Result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Updated result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Although this looked excellent, it was useless from a business perspective as I couldn’t control SKUs</a:t>
            </a:r>
          </a:p>
        </p:txBody>
      </p:sp>
    </p:spTree>
    <p:extLst>
      <p:ext uri="{BB962C8B-B14F-4D97-AF65-F5344CB8AC3E}">
        <p14:creationId xmlns:p14="http://schemas.microsoft.com/office/powerpoint/2010/main" val="2963156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75CB9-85D8-0A48-3CAD-F6CDAE55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Design &amp; Results (Round #6 &amp; #7)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D5E33-59F1-D237-39B6-DDC6BF28DC6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Round #6: </a:t>
            </a:r>
            <a:r>
              <a:rPr lang="en-US" dirty="0"/>
              <a:t>Rerunning the code resulted in undesired results including shelf lines and short shelves blocking the view</a:t>
            </a:r>
          </a:p>
          <a:p>
            <a:endParaRPr lang="en-US" dirty="0"/>
          </a:p>
          <a:p>
            <a:r>
              <a:rPr lang="en-US" b="1" dirty="0"/>
              <a:t>Round #7:</a:t>
            </a:r>
            <a:r>
              <a:rPr lang="en-US" dirty="0"/>
              <a:t> Unable to properly remove the short shelves I started with a new template design entirely. </a:t>
            </a:r>
            <a:br>
              <a:rPr lang="en-US" dirty="0"/>
            </a:br>
            <a:r>
              <a:rPr lang="en-US" dirty="0"/>
              <a:t>I was still unable to control SKU placement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D4F3AF-7400-2A13-7EA8-1E032685C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1652" y="4001294"/>
            <a:ext cx="2286000" cy="2286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189E9BB-4B8B-8BA8-6C26-9B700C9B5C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6773" y="4001294"/>
            <a:ext cx="2286000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FE5D1F-3285-2901-D9A2-B590E4AE6F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7726" y="1364226"/>
            <a:ext cx="2286000" cy="2286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102E978-B711-87B7-1ECA-7E8DAD2149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1652" y="1364226"/>
            <a:ext cx="2286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421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15A40-6C8B-516F-70C9-BD09D7A0E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Design &amp; Results (Round #8+)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D987E-E210-7287-7DB3-C8F4DD5281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spent multiple rounds to determine how to create unique SKU imagery for each SKU, working to get usable 2-D images. </a:t>
            </a:r>
          </a:p>
          <a:p>
            <a:r>
              <a:rPr lang="en-US" dirty="0"/>
              <a:t>After all SKU images were generated, I had the system place these against the blank backdrop</a:t>
            </a:r>
          </a:p>
          <a:p>
            <a:r>
              <a:rPr lang="en-US" dirty="0"/>
              <a:t>Future iterations worked to space the shelves more cleanly moving from 7 shelves to 6 working shelves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71A37F0-3250-BFF8-88DD-AFF6D0F624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990600"/>
            <a:ext cx="4876800" cy="48768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8C9ACC67-21E0-4C30-6E1E-9B3EFF3349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7600" y="990600"/>
            <a:ext cx="4876800" cy="48768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099C3F6-B474-AC48-8F2B-DB3563C72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90688"/>
            <a:ext cx="2766142" cy="27432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9603B9B-5296-478C-8C11-DE62F1AD1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8342" y="3749675"/>
            <a:ext cx="2783062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700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DBFEE-3E11-CED3-E1BF-9CFD2722B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/>
              <a:t>Control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5A165-9F8B-BD9E-9D13-86A2F8DE1C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 had Stable Diffusion generate the imagery for the box fronts as the low quality was actually desired</a:t>
            </a:r>
          </a:p>
          <a:p>
            <a:endParaRPr lang="en-US" dirty="0"/>
          </a:p>
          <a:p>
            <a:r>
              <a:rPr lang="en-US" dirty="0"/>
              <a:t>Both positive and negative prompts were used to drive towards 2-D imagery</a:t>
            </a:r>
          </a:p>
          <a:p>
            <a:endParaRPr lang="en-US" dirty="0"/>
          </a:p>
          <a:p>
            <a:r>
              <a:rPr lang="en-US" dirty="0"/>
              <a:t>Images were created based on SKU visual dimensions to ensure a good fit</a:t>
            </a:r>
          </a:p>
          <a:p>
            <a:endParaRPr lang="en-US" dirty="0"/>
          </a:p>
          <a:p>
            <a:r>
              <a:rPr lang="en-US" dirty="0"/>
              <a:t>Images were processed to remove backgrounds and create transparent PNGs</a:t>
            </a:r>
          </a:p>
          <a:p>
            <a:endParaRPr lang="en-US" dirty="0"/>
          </a:p>
          <a:p>
            <a:r>
              <a:rPr lang="en-US" dirty="0"/>
              <a:t>Images were placed within hard-coded 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shelf_bounds </a:t>
            </a:r>
            <a:r>
              <a:rPr lang="en-US" dirty="0"/>
              <a:t>to prevent clipping, and to enable a targeted 80% shelf fill rate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CEB65A9-D279-C734-C353-100FBE3B9E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6669" y="1027906"/>
            <a:ext cx="1671637" cy="2743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8B1199-F2EE-3157-6129-133998FF78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3068" y="3786034"/>
            <a:ext cx="1671638" cy="2743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A55C7B-6E2A-0B2C-3379-D8C89D7CEA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2285" y="1042834"/>
            <a:ext cx="2786743" cy="2743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70418BC-EA88-1F77-B5B3-B71813D814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606" y="3672348"/>
            <a:ext cx="3376246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238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1396-2449-3197-98BB-BB5CCE978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0694C-3ADD-95F3-1605-260B8A1E8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Tools and technologies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4AA9E-465F-D6DD-01A1-1FE56FF09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Generative AI: Stable Diffusion v1.5 (Inpainting &amp; Text-to-Image).</a:t>
            </a:r>
          </a:p>
          <a:p>
            <a:r>
              <a:rPr lang="en-US" dirty="0"/>
              <a:t>Programming: Python (Pandas, Pillow, Diffusers, OpenCV).</a:t>
            </a:r>
          </a:p>
          <a:p>
            <a:r>
              <a:rPr lang="en-US" dirty="0"/>
              <a:t>Automation: </a:t>
            </a:r>
            <a:r>
              <a:rPr lang="en-US" dirty="0" err="1"/>
              <a:t>gTTS</a:t>
            </a:r>
            <a:r>
              <a:rPr lang="en-US" dirty="0"/>
              <a:t> (Google Text-to-Speech) for explanation of the changes to the Planogram.</a:t>
            </a:r>
          </a:p>
          <a:p>
            <a:r>
              <a:rPr lang="en-US" dirty="0"/>
              <a:t>Vector Graphics: XML-based SVG for layout orchestration.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075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C2B5-C994-42F0-672D-866C995A9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Video</a:t>
            </a:r>
          </a:p>
        </p:txBody>
      </p:sp>
      <p:pic>
        <p:nvPicPr>
          <p:cNvPr id="4" name="pharmacy_transition_video">
            <a:hlinkClick r:id="" action="ppaction://media"/>
            <a:extLst>
              <a:ext uri="{FF2B5EF4-FFF2-40B4-BE49-F238E27FC236}">
                <a16:creationId xmlns:a16="http://schemas.microsoft.com/office/drawing/2014/main" id="{9D8FF3E1-43B0-A4AF-B0AF-DEFE13FC5471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921125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1925210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9BE1D-C900-536E-2EC0-839F17927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1FE02-17A7-206A-3143-9A044CB24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Video and GitHub URLs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DA704-AC00-7259-E83F-8C3F9B0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GitHub: </a:t>
            </a:r>
            <a:r>
              <a:rPr lang="en-US" dirty="0">
                <a:hlinkClick r:id="rId3"/>
              </a:rPr>
              <a:t>https://github.com/joelvinas/COMP-SCI_5542/tree/3272ebcc0ab6f1332e682f3a85e9787d82718b1b/Quiz%201</a:t>
            </a:r>
            <a:endParaRPr lang="en-US" dirty="0"/>
          </a:p>
          <a:p>
            <a:endParaRPr lang="en-US" dirty="0"/>
          </a:p>
          <a:p>
            <a:r>
              <a:rPr lang="en-US" dirty="0"/>
              <a:t>YouTube Video: </a:t>
            </a:r>
            <a:r>
              <a:rPr lang="en-US" dirty="0">
                <a:hlinkClick r:id="rId4"/>
              </a:rPr>
              <a:t>https://youtu.be/e_uipJM81MU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4023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B4A66-A668-8B82-2ACF-CD7CDFF2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1C228-7D06-F79C-6D0E-D5479402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00960-4B18-46C6-E88F-55B84CC4A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b="1" dirty="0"/>
              <a:t>Initial (PNG-only):</a:t>
            </a:r>
            <a:r>
              <a:rPr lang="en-US" dirty="0"/>
              <a:t> Frequent 3D distortion, items floating in ceiling, unreadable labels.</a:t>
            </a:r>
          </a:p>
          <a:p>
            <a:r>
              <a:rPr lang="en-US" b="1" dirty="0"/>
              <a:t>Improved (SVG-Hybrid):</a:t>
            </a:r>
            <a:r>
              <a:rPr lang="en-US" dirty="0"/>
              <a:t> 100% placement accuracy, high asset consistency, transparent layering.</a:t>
            </a:r>
          </a:p>
          <a:p>
            <a:r>
              <a:rPr lang="en-US" b="1" dirty="0"/>
              <a:t>Prompt Alignment:</a:t>
            </a:r>
            <a:r>
              <a:rPr lang="en-US" dirty="0"/>
              <a:t> Metadata (Width/Height) now directly controls the visual canvas size.</a:t>
            </a:r>
          </a:p>
          <a:p>
            <a:r>
              <a:rPr lang="en-US" b="1" dirty="0"/>
              <a:t>Final:</a:t>
            </a:r>
            <a:r>
              <a:rPr lang="en-US" dirty="0"/>
              <a:t> Multimodal integration (Audio + Animation) provides a functional retail demo.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5135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B26C6-25F0-6CCA-9174-A21F196D1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Findings and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111F1-27D4-4D15-84C5-A61DCE1ED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Observation:</a:t>
            </a:r>
            <a:r>
              <a:rPr lang="en-US" dirty="0"/>
              <a:t> SD 1.5 has a strong 3D bias; aspect ratio forcing is more effective than keywords alone (even with strong negative prompting).</a:t>
            </a:r>
          </a:p>
          <a:p>
            <a:endParaRPr lang="en-US" dirty="0"/>
          </a:p>
          <a:p>
            <a:r>
              <a:rPr lang="en-US" b="1" dirty="0"/>
              <a:t>Determinism vs. Diversity:</a:t>
            </a:r>
            <a:r>
              <a:rPr lang="en-US" dirty="0"/>
              <a:t> SVGs provide the necessary 'guardrails' for professional retail use. This also enables new SKUs to be created (with imagery) allowing fine control at scale</a:t>
            </a:r>
          </a:p>
          <a:p>
            <a:endParaRPr lang="en-US" dirty="0"/>
          </a:p>
          <a:p>
            <a:r>
              <a:rPr lang="en-US" b="1" dirty="0"/>
              <a:t>Multimodal Value:</a:t>
            </a:r>
            <a:r>
              <a:rPr lang="en-US" dirty="0"/>
              <a:t> Adding audio briefings significantly increases stakeholder engagement with the AI tool.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558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02BB4-B1E7-B4DD-00E0-4B7F62FFA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&amp; AI Disclosure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9B908-0A2C-517C-D434-40CB4CE12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Limitations: </a:t>
            </a:r>
            <a:r>
              <a:rPr lang="en-US" dirty="0"/>
              <a:t>Text legibility on SKU labels remains low; complex SKU placement mapping and reflection mapping is missing.</a:t>
            </a:r>
          </a:p>
          <a:p>
            <a:endParaRPr lang="en-US" dirty="0"/>
          </a:p>
          <a:p>
            <a:r>
              <a:rPr lang="en-US" b="1" dirty="0"/>
              <a:t>AI Tool Disclosure:</a:t>
            </a:r>
            <a:r>
              <a:rPr lang="en-US" dirty="0"/>
              <a:t> Used Google Gemini/Google Antigravity for brainstorming, graphic design, code debugging and presentation structure.</a:t>
            </a:r>
          </a:p>
          <a:p>
            <a:endParaRPr lang="en-US" dirty="0"/>
          </a:p>
          <a:p>
            <a:r>
              <a:rPr lang="en-US" b="1" dirty="0"/>
              <a:t>Assisted Tasks:</a:t>
            </a:r>
            <a:r>
              <a:rPr lang="en-US" dirty="0"/>
              <a:t> Prompt engineering, SVG animation logic, and data generation were AI-assisted.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172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944</Words>
  <Application>Microsoft Office PowerPoint</Application>
  <PresentationFormat>Widescreen</PresentationFormat>
  <Paragraphs>112</Paragraphs>
  <Slides>18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Courier New</vt:lpstr>
      <vt:lpstr>Office Theme</vt:lpstr>
      <vt:lpstr>Planogram Updater</vt:lpstr>
      <vt:lpstr>Scenario description</vt:lpstr>
      <vt:lpstr>Dataset</vt:lpstr>
      <vt:lpstr>Methodology</vt:lpstr>
      <vt:lpstr>Stable Diffusion pipeline</vt:lpstr>
      <vt:lpstr>Prompt Design &amp; Results</vt:lpstr>
      <vt:lpstr>Prompt Design &amp; Results (Round #3)</vt:lpstr>
      <vt:lpstr>Prompt Design &amp; Results (Round #4)</vt:lpstr>
      <vt:lpstr>Prompt Design &amp; Results (Round #5)</vt:lpstr>
      <vt:lpstr>Prompt Design &amp; Results (Round #6 &amp; #7)</vt:lpstr>
      <vt:lpstr>Prompt Design &amp; Results (Round #8+)</vt:lpstr>
      <vt:lpstr> Control strategy</vt:lpstr>
      <vt:lpstr> Tools and technologies </vt:lpstr>
      <vt:lpstr>Demo Video</vt:lpstr>
      <vt:lpstr>Video and GitHub URLs</vt:lpstr>
      <vt:lpstr>Evaluation</vt:lpstr>
      <vt:lpstr>Findings and insights</vt:lpstr>
      <vt:lpstr>Limitations &amp; AI Disclosure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Vinas</dc:creator>
  <cp:lastModifiedBy>Joel Vinas</cp:lastModifiedBy>
  <cp:revision>7</cp:revision>
  <dcterms:created xsi:type="dcterms:W3CDTF">2026-04-16T19:49:00Z</dcterms:created>
  <dcterms:modified xsi:type="dcterms:W3CDTF">2026-04-21T04:23:50Z</dcterms:modified>
</cp:coreProperties>
</file>